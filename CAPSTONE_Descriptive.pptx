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  <Relationship Id='rId13' Target='slides/slide8.xml' Type='http://schemas.openxmlformats.org/officeDocument/2006/relationships/slide' />
  <Relationship Id='rId14' Target='slides/slide9.xml' Type='http://schemas.openxmlformats.org/officeDocument/2006/relationships/slide' />
  <Relationship Id='rId15' Target='slides/slide10.xml' Type='http://schemas.openxmlformats.org/officeDocument/2006/relationships/slide' />
  <Relationship Id='rId16' Target='slides/slide11.xml' Type='http://schemas.openxmlformats.org/officeDocument/2006/relationships/slide' />
  <Relationship Id='rId17' Target='slides/slide12.xml' Type='http://schemas.openxmlformats.org/officeDocument/2006/relationships/slide' />
  <Relationship Id='rId18' Target='slides/slide13.xml' Type='http://schemas.openxmlformats.org/officeDocument/2006/relationships/slide' />
  <Relationship Id='rId19' Target='slides/slide14.xml' Type='http://schemas.openxmlformats.org/officeDocument/2006/relationships/slide' />
  <Relationship Id='rId20' Target='slides/slide15.xml' Type='http://schemas.openxmlformats.org/officeDocument/2006/relationships/slide' />
  <Relationship Id='rId21' Target='slides/slide16.xml' Type='http://schemas.openxmlformats.org/officeDocument/2006/relationships/slide' />
  <Relationship Id='rId22' Target='slides/slide17.xml' Type='http://schemas.openxmlformats.org/officeDocument/2006/relationships/slide' />
  <Relationship Id='rId23' Target='slides/slide18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3' Target='../media/image7.png' Type='http://schemas.openxmlformats.org/officeDocument/2006/relationships/image' />
</Relationships>

</file>

<file path=ppt/slides/_rels/slide9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4' Target='../media/image8.png' Type='http://schemas.openxmlformats.org/officeDocument/2006/relationships/image' />
</Relationships>

</file>

<file path=ppt/slides/_rels/slide10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5' Target='../media/image9.png' Type='http://schemas.openxmlformats.org/officeDocument/2006/relationships/image' />
</Relationships>

</file>

<file path=ppt/slides/_rels/slide1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6' Target='../media/image10.png' Type='http://schemas.openxmlformats.org/officeDocument/2006/relationships/image' />
</Relationships>

</file>

<file path=ppt/slides/_rels/slide1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7' Target='../media/image11.png' Type='http://schemas.openxmlformats.org/officeDocument/2006/relationships/image' />
</Relationships>

</file>

<file path=ppt/slides/_rels/slide1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8' Target='../media/image12.png' Type='http://schemas.openxmlformats.org/officeDocument/2006/relationships/image' />
</Relationships>

</file>

<file path=ppt/slides/_rels/slide1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9' Target='../media/image13.png' Type='http://schemas.openxmlformats.org/officeDocument/2006/relationships/image' />
</Relationships>

</file>

<file path=ppt/slides/_rels/slide1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0' Target='../media/image14.png' Type='http://schemas.openxmlformats.org/officeDocument/2006/relationships/image' />
</Relationships>

</file>

<file path=ppt/slides/_rels/slide1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1' Target='../media/image15.png' Type='http://schemas.openxmlformats.org/officeDocument/2006/relationships/image' />
</Relationships>

</file>

<file path=ppt/slides/_rels/slide1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2' Target='../media/image16.png' Type='http://schemas.openxmlformats.org/officeDocument/2006/relationships/image' />
</Relationships>

</file>

<file path=ppt/slides/_rels/slide18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23' Target='../media/image17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57D8B37-F01B-48FC-A6EF-88F6DD3B49EC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Descriptive_Capstone_nbporemba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85DFADF-6D4D-4876-92BF-0C566AB1520D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7/31/26 11:28:10 AM PDT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020 All Sector Gain/Loss" id="2" name="slide2">
            <a:extLst>
              <a:ext uri="{FF2B5EF4-FFF2-40B4-BE49-F238E27FC236}">
                <a16:creationId xmlns:a16="http://schemas.microsoft.com/office/drawing/2014/main" id="{01480CEA-8AAC-43A2-B1D7-2A1085534CB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523875"/>
            <a:ext cx="9867900" cy="5810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Montly Returns Time Series" id="3" name="slide3">
            <a:extLst>
              <a:ext uri="{FF2B5EF4-FFF2-40B4-BE49-F238E27FC236}">
                <a16:creationId xmlns:a16="http://schemas.microsoft.com/office/drawing/2014/main" id="{074D4922-1079-426D-B25F-F8A2B1A517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604837"/>
            <a:ext cx="986790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ll Monthly Return Highlight Table" id="4" name="slide4">
            <a:extLst>
              <a:ext uri="{FF2B5EF4-FFF2-40B4-BE49-F238E27FC236}">
                <a16:creationId xmlns:a16="http://schemas.microsoft.com/office/drawing/2014/main" id="{00DD4937-11D3-4970-9093-E2F0E481A66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525" y="604837"/>
            <a:ext cx="9886950" cy="564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turn/Volatility Heatmap" id="5" name="slide5">
            <a:extLst>
              <a:ext uri="{FF2B5EF4-FFF2-40B4-BE49-F238E27FC236}">
                <a16:creationId xmlns:a16="http://schemas.microsoft.com/office/drawing/2014/main" id="{EB2AAF47-8C8E-4BD7-8DD2-A162646C13D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287" y="847725"/>
            <a:ext cx="9877425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1-Q4 Slope Chart" id="6" name="slide6">
            <a:extLst>
              <a:ext uri="{FF2B5EF4-FFF2-40B4-BE49-F238E27FC236}">
                <a16:creationId xmlns:a16="http://schemas.microsoft.com/office/drawing/2014/main" id="{5DC989A8-9B33-4BAF-9731-2D467423612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685800"/>
            <a:ext cx="98679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nergy vs SPY" id="7" name="slide7">
            <a:extLst>
              <a:ext uri="{FF2B5EF4-FFF2-40B4-BE49-F238E27FC236}">
                <a16:creationId xmlns:a16="http://schemas.microsoft.com/office/drawing/2014/main" id="{659A22C1-9A4E-4F79-8F2F-0205D04941D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050" y="766762"/>
            <a:ext cx="98679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Oil vs Energy" id="8" name="slide8">
            <a:extLst>
              <a:ext uri="{FF2B5EF4-FFF2-40B4-BE49-F238E27FC236}">
                <a16:creationId xmlns:a16="http://schemas.microsoft.com/office/drawing/2014/main" id="{F456CD62-9A0B-4FD2-994A-F960B3DF97B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" y="766762"/>
            <a:ext cx="997267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employment vs SPY" id="9" name="slide9">
            <a:extLst>
              <a:ext uri="{FF2B5EF4-FFF2-40B4-BE49-F238E27FC236}">
                <a16:creationId xmlns:a16="http://schemas.microsoft.com/office/drawing/2014/main" id="{A9EBF2A6-1B90-4187-BF17-542776C8DD1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" y="823912"/>
            <a:ext cx="9972675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ederal Funds vs SPY" id="10" name="slide10">
            <a:extLst>
              <a:ext uri="{FF2B5EF4-FFF2-40B4-BE49-F238E27FC236}">
                <a16:creationId xmlns:a16="http://schemas.microsoft.com/office/drawing/2014/main" id="{781B7FE4-21D9-4D14-9B00-3510F1982FD4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662" y="766762"/>
            <a:ext cx="997267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 – Market Overview" id="11" name="slide11">
            <a:extLst>
              <a:ext uri="{FF2B5EF4-FFF2-40B4-BE49-F238E27FC236}">
                <a16:creationId xmlns:a16="http://schemas.microsoft.com/office/drawing/2014/main" id="{3821400F-2664-4164-A9A4-5027EFDC25B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2 – Energy Evolution" id="12" name="slide12">
            <a:extLst>
              <a:ext uri="{FF2B5EF4-FFF2-40B4-BE49-F238E27FC236}">
                <a16:creationId xmlns:a16="http://schemas.microsoft.com/office/drawing/2014/main" id="{CC20588E-7C17-4F44-8941-51AE6C5EC5F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3 – Risk and Relationships" id="13" name="slide13">
            <a:extLst>
              <a:ext uri="{FF2B5EF4-FFF2-40B4-BE49-F238E27FC236}">
                <a16:creationId xmlns:a16="http://schemas.microsoft.com/office/drawing/2014/main" id="{7AF524CE-8371-4F05-9EE8-D18C54C798A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4 – Economic Conditions" id="14" name="slide14">
            <a:extLst>
              <a:ext uri="{FF2B5EF4-FFF2-40B4-BE49-F238E27FC236}">
                <a16:creationId xmlns:a16="http://schemas.microsoft.com/office/drawing/2014/main" id="{09A2BC9C-C865-4BD6-8055-69AA723193E3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020 Market Performance Story2" id="15" name="slide15">
            <a:extLst>
              <a:ext uri="{FF2B5EF4-FFF2-40B4-BE49-F238E27FC236}">
                <a16:creationId xmlns:a16="http://schemas.microsoft.com/office/drawing/2014/main" id="{9BA2EE6A-5994-4381-AF33-7121164485D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020 Market Performance Story3" id="16" name="slide16">
            <a:extLst>
              <a:ext uri="{FF2B5EF4-FFF2-40B4-BE49-F238E27FC236}">
                <a16:creationId xmlns:a16="http://schemas.microsoft.com/office/drawing/2014/main" id="{53BE0F84-7A3F-44C1-A29F-51B3A9938DE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020 Market Performance Story4" id="17" name="slide17">
            <a:extLst>
              <a:ext uri="{FF2B5EF4-FFF2-40B4-BE49-F238E27FC236}">
                <a16:creationId xmlns:a16="http://schemas.microsoft.com/office/drawing/2014/main" id="{D668AB85-C372-4A03-86DC-563C31BBC457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2020 Market Performance Story5" id="18" name="slide18">
            <a:extLst>
              <a:ext uri="{FF2B5EF4-FFF2-40B4-BE49-F238E27FC236}">
                <a16:creationId xmlns:a16="http://schemas.microsoft.com/office/drawing/2014/main" id="{DAB855C0-CB78-4F84-8E3A-E5847671CA14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18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2026-07-31T18:28:20Z</dcterms:created>
  <dcterms:modified xsi:type="dcterms:W3CDTF">2026-07-31T18:28:20Z</dcterms:modified>
</cp:coreProperties>
</file>